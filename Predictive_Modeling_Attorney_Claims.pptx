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4" r:id="rId5"/>
    <p:sldId id="265" r:id="rId6"/>
    <p:sldId id="268" r:id="rId7"/>
    <p:sldId id="269" r:id="rId8"/>
    <p:sldId id="260" r:id="rId9"/>
    <p:sldId id="270" r:id="rId10"/>
    <p:sldId id="271" r:id="rId11"/>
    <p:sldId id="272" r:id="rId12"/>
    <p:sldId id="261" r:id="rId13"/>
    <p:sldId id="273" r:id="rId14"/>
    <p:sldId id="262" r:id="rId15"/>
    <p:sldId id="263" r:id="rId16"/>
    <p:sldId id="274" r:id="rId17"/>
    <p:sldId id="275" r:id="rId18"/>
    <p:sldId id="276" r:id="rId19"/>
    <p:sldId id="277" r:id="rId20"/>
    <p:sldId id="278" r:id="rId21"/>
    <p:sldId id="279" r:id="rId22"/>
    <p:sldId id="280" r:id="rId23"/>
    <p:sldId id="281"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Predictive Modeling for Attorney Involvement in Claims</a:t>
            </a:r>
          </a:p>
        </p:txBody>
      </p:sp>
      <p:sp>
        <p:nvSpPr>
          <p:cNvPr id="3" name="Subtitle 2"/>
          <p:cNvSpPr>
            <a:spLocks noGrp="1"/>
          </p:cNvSpPr>
          <p:nvPr>
            <p:ph type="subTitle" idx="1"/>
          </p:nvPr>
        </p:nvSpPr>
        <p:spPr/>
        <p:txBody>
          <a:bodyPr/>
          <a:lstStyle/>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Problem Statement</a:t>
            </a:r>
            <a:br>
              <a:rPr lang="en-IN" dirty="0"/>
            </a:br>
            <a:endParaRPr dirty="0"/>
          </a:p>
        </p:txBody>
      </p:sp>
      <p:sp>
        <p:nvSpPr>
          <p:cNvPr id="3" name="Content Placeholder 2"/>
          <p:cNvSpPr>
            <a:spLocks noGrp="1"/>
          </p:cNvSpPr>
          <p:nvPr>
            <p:ph idx="1"/>
          </p:nvPr>
        </p:nvSpPr>
        <p:spPr/>
        <p:txBody>
          <a:bodyPr>
            <a:normAutofit fontScale="70000" lnSpcReduction="20000"/>
          </a:bodyPr>
          <a:lstStyle/>
          <a:p>
            <a:r>
              <a:rPr lang="en-US" dirty="0"/>
              <a:t>Insurance companies face significant legal expenses when claimants involve attorneys in the claims process. Legal involvement can lead to increased settlement amounts, prolonged claim resolution times, and higher administrative costs. Identifying claims that are more likely to involve attorneys in advance can help insurers optimize their processes, allocate resources efficiently, and potentially reduce unnecessary legal expenditures.</a:t>
            </a:r>
          </a:p>
          <a:p>
            <a:pPr marL="0" indent="0">
              <a:buNone/>
            </a:pPr>
            <a:endParaRPr lang="en-US" dirty="0"/>
          </a:p>
          <a:p>
            <a:r>
              <a:rPr lang="en-US" dirty="0"/>
              <a:t>This project aims to develop a </a:t>
            </a:r>
            <a:r>
              <a:rPr lang="en-US" b="1" dirty="0"/>
              <a:t>predictive model</a:t>
            </a:r>
            <a:r>
              <a:rPr lang="en-US" dirty="0"/>
              <a:t> that determines whether an attorney will be involved in a claim based on various claim-related factors. By leveraging machine learning, the model will analyze key attributes such as CLMINSUR, accident severity, policy type, LOSS, and claim approval status to make accurate predictions.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Dataset Overview</a:t>
            </a:r>
          </a:p>
        </p:txBody>
      </p:sp>
      <p:sp>
        <p:nvSpPr>
          <p:cNvPr id="3" name="Content Placeholder 2"/>
          <p:cNvSpPr>
            <a:spLocks noGrp="1"/>
          </p:cNvSpPr>
          <p:nvPr>
            <p:ph idx="1"/>
          </p:nvPr>
        </p:nvSpPr>
        <p:spPr/>
        <p:txBody>
          <a:bodyPr>
            <a:normAutofit fontScale="47500" lnSpcReduction="20000"/>
          </a:bodyPr>
          <a:lstStyle/>
          <a:p>
            <a:pPr>
              <a:buFont typeface="Arial" panose="020B0604020202020204" pitchFamily="34" charset="0"/>
              <a:buChar char="•"/>
            </a:pPr>
            <a:r>
              <a:rPr lang="en-US" b="1" dirty="0"/>
              <a:t>Total Entries:</a:t>
            </a:r>
            <a:r>
              <a:rPr lang="en-US" dirty="0"/>
              <a:t> 1,340 rows</a:t>
            </a:r>
          </a:p>
          <a:p>
            <a:pPr>
              <a:buFont typeface="Arial" panose="020B0604020202020204" pitchFamily="34" charset="0"/>
              <a:buChar char="•"/>
            </a:pPr>
            <a:r>
              <a:rPr lang="en-US" b="1" dirty="0"/>
              <a:t>Total Features:</a:t>
            </a:r>
            <a:r>
              <a:rPr lang="en-US" dirty="0"/>
              <a:t> 13 columns</a:t>
            </a:r>
          </a:p>
          <a:p>
            <a:pPr marL="0" indent="0">
              <a:buNone/>
            </a:pPr>
            <a:endParaRPr lang="en-US" dirty="0"/>
          </a:p>
          <a:p>
            <a:r>
              <a:rPr lang="en-US" b="1" dirty="0"/>
              <a:t>Key Features:</a:t>
            </a:r>
          </a:p>
          <a:p>
            <a:pPr>
              <a:buFont typeface="+mj-lt"/>
              <a:buAutoNum type="arabicPeriod"/>
            </a:pPr>
            <a:r>
              <a:rPr lang="en-US" sz="3400" b="1" dirty="0"/>
              <a:t>CASENUM</a:t>
            </a:r>
            <a:r>
              <a:rPr lang="en-US" sz="3400" dirty="0"/>
              <a:t> </a:t>
            </a:r>
            <a:r>
              <a:rPr lang="en-US" sz="3400" i="1" dirty="0"/>
              <a:t>(Integer)</a:t>
            </a:r>
            <a:r>
              <a:rPr lang="en-US" sz="3400" dirty="0"/>
              <a:t> – Unique identifier for each case.</a:t>
            </a:r>
          </a:p>
          <a:p>
            <a:pPr>
              <a:buFont typeface="+mj-lt"/>
              <a:buAutoNum type="arabicPeriod"/>
            </a:pPr>
            <a:r>
              <a:rPr lang="en-US" sz="3400" b="1" dirty="0"/>
              <a:t>ATTORNEY</a:t>
            </a:r>
            <a:r>
              <a:rPr lang="en-US" sz="3400" dirty="0"/>
              <a:t> </a:t>
            </a:r>
            <a:r>
              <a:rPr lang="en-US" sz="3400" i="1" dirty="0"/>
              <a:t>(Binary: 0 or 1)</a:t>
            </a:r>
            <a:r>
              <a:rPr lang="en-US" sz="3400" dirty="0"/>
              <a:t> – Indicates if an attorney was involved (1 = Yes, 0 = No).</a:t>
            </a:r>
          </a:p>
          <a:p>
            <a:pPr>
              <a:buFont typeface="+mj-lt"/>
              <a:buAutoNum type="arabicPeriod"/>
            </a:pPr>
            <a:r>
              <a:rPr lang="en-US" sz="3400" b="1" dirty="0"/>
              <a:t>CLMSEX</a:t>
            </a:r>
            <a:r>
              <a:rPr lang="en-US" sz="3400" dirty="0"/>
              <a:t> </a:t>
            </a:r>
            <a:r>
              <a:rPr lang="en-US" sz="3400" i="1" dirty="0"/>
              <a:t>(Categorical: 0 or 1)</a:t>
            </a:r>
            <a:r>
              <a:rPr lang="en-US" sz="3400" dirty="0"/>
              <a:t> – Gender of the claimant (1 = Male, 0 = Female).</a:t>
            </a:r>
          </a:p>
          <a:p>
            <a:pPr>
              <a:buFont typeface="+mj-lt"/>
              <a:buAutoNum type="arabicPeriod"/>
            </a:pPr>
            <a:r>
              <a:rPr lang="en-US" sz="3400" b="1" dirty="0"/>
              <a:t>CLMINSUR</a:t>
            </a:r>
            <a:r>
              <a:rPr lang="en-US" sz="3400" dirty="0"/>
              <a:t> </a:t>
            </a:r>
            <a:r>
              <a:rPr lang="en-US" sz="3400" i="1" dirty="0"/>
              <a:t>(Binary: 0 or 1)</a:t>
            </a:r>
            <a:r>
              <a:rPr lang="en-US" sz="3400" dirty="0"/>
              <a:t> – Whether the claimant was insured at the time of the accident.</a:t>
            </a:r>
          </a:p>
          <a:p>
            <a:pPr>
              <a:buFont typeface="+mj-lt"/>
              <a:buAutoNum type="arabicPeriod"/>
            </a:pPr>
            <a:r>
              <a:rPr lang="en-US" sz="3400" b="1" dirty="0"/>
              <a:t>SEATBELT</a:t>
            </a:r>
            <a:r>
              <a:rPr lang="en-US" sz="3400" dirty="0"/>
              <a:t> </a:t>
            </a:r>
            <a:r>
              <a:rPr lang="en-US" sz="3400" i="1" dirty="0"/>
              <a:t>(Binary: 0 or 1)</a:t>
            </a:r>
            <a:r>
              <a:rPr lang="en-US" sz="3400" dirty="0"/>
              <a:t> – Whether the claimant was wearing a seatbelt during the accident.</a:t>
            </a:r>
          </a:p>
          <a:p>
            <a:pPr>
              <a:buFont typeface="+mj-lt"/>
              <a:buAutoNum type="arabicPeriod"/>
            </a:pPr>
            <a:r>
              <a:rPr lang="en-US" sz="3400" b="1" dirty="0"/>
              <a:t>CLMAGE</a:t>
            </a:r>
            <a:r>
              <a:rPr lang="en-US" sz="3400" dirty="0"/>
              <a:t> </a:t>
            </a:r>
            <a:r>
              <a:rPr lang="en-US" sz="3400" i="1" dirty="0"/>
              <a:t>(Integer)</a:t>
            </a:r>
            <a:r>
              <a:rPr lang="en-US" sz="3400" dirty="0"/>
              <a:t> – Age of the claimant.</a:t>
            </a:r>
          </a:p>
          <a:p>
            <a:pPr>
              <a:buFont typeface="+mj-lt"/>
              <a:buAutoNum type="arabicPeriod"/>
            </a:pPr>
            <a:r>
              <a:rPr lang="en-US" sz="3400" b="1" dirty="0"/>
              <a:t>LOSS</a:t>
            </a:r>
            <a:r>
              <a:rPr lang="en-US" sz="3400" dirty="0"/>
              <a:t> </a:t>
            </a:r>
            <a:r>
              <a:rPr lang="en-US" sz="3400" i="1" dirty="0"/>
              <a:t>(Float)</a:t>
            </a:r>
            <a:r>
              <a:rPr lang="en-US" sz="3400" dirty="0"/>
              <a:t> – The financial loss associated with the claim.</a:t>
            </a:r>
          </a:p>
          <a:p>
            <a:pPr>
              <a:buFont typeface="+mj-lt"/>
              <a:buAutoNum type="arabicPeriod"/>
            </a:pPr>
            <a:r>
              <a:rPr lang="en-US" sz="3400" b="1" dirty="0"/>
              <a:t>Accident Severity </a:t>
            </a:r>
            <a:r>
              <a:rPr lang="en-US" sz="3400" dirty="0"/>
              <a:t> </a:t>
            </a:r>
            <a:r>
              <a:rPr lang="en-US" sz="3400" i="1" dirty="0"/>
              <a:t>(Categorical: Minor, Moderate, Severe)</a:t>
            </a:r>
            <a:r>
              <a:rPr lang="en-US" sz="3400" dirty="0"/>
              <a:t> – Severity of the accident based on damage or injuries.</a:t>
            </a:r>
          </a:p>
          <a:p>
            <a:pPr>
              <a:buFont typeface="+mj-lt"/>
              <a:buAutoNum type="arabicPeriod"/>
            </a:pPr>
            <a:r>
              <a:rPr lang="en-US" sz="3400" b="1" dirty="0"/>
              <a:t>Claim Amount Requested</a:t>
            </a:r>
            <a:r>
              <a:rPr lang="en-US" sz="3400" dirty="0"/>
              <a:t> </a:t>
            </a:r>
            <a:r>
              <a:rPr lang="en-US" sz="3400" i="1" dirty="0"/>
              <a:t>(Float)</a:t>
            </a:r>
            <a:r>
              <a:rPr lang="en-US" sz="3400" dirty="0"/>
              <a:t> – The initial amount requested by the claimant.</a:t>
            </a:r>
          </a:p>
          <a:p>
            <a:pPr>
              <a:buFont typeface="+mj-lt"/>
              <a:buAutoNum type="arabicPeriod"/>
            </a:pPr>
            <a:r>
              <a:rPr lang="en-US" sz="3400" b="1" dirty="0"/>
              <a:t>Claim Approval Status</a:t>
            </a:r>
            <a:r>
              <a:rPr lang="en-US" sz="3400" dirty="0"/>
              <a:t> </a:t>
            </a:r>
            <a:r>
              <a:rPr lang="en-US" sz="3400" i="1" dirty="0"/>
              <a:t>(Binary: 0 or 1)</a:t>
            </a:r>
            <a:r>
              <a:rPr lang="en-US" sz="3400" dirty="0"/>
              <a:t> – Whether the claim was approved (1 = Yes, 0 = No).</a:t>
            </a:r>
          </a:p>
          <a:p>
            <a:pPr>
              <a:buFont typeface="+mj-lt"/>
              <a:buAutoNum type="arabicPeriod"/>
            </a:pPr>
            <a:r>
              <a:rPr lang="en-US" sz="3400" b="1" dirty="0"/>
              <a:t>Settlement Amount</a:t>
            </a:r>
            <a:r>
              <a:rPr lang="en-US" sz="3400" dirty="0"/>
              <a:t> </a:t>
            </a:r>
            <a:r>
              <a:rPr lang="en-US" sz="3400" i="1" dirty="0"/>
              <a:t>(Float)</a:t>
            </a:r>
            <a:r>
              <a:rPr lang="en-US" sz="3400" dirty="0"/>
              <a:t> – The final amount paid after settlement.</a:t>
            </a:r>
          </a:p>
          <a:p>
            <a:pPr>
              <a:buFont typeface="+mj-lt"/>
              <a:buAutoNum type="arabicPeriod"/>
            </a:pPr>
            <a:r>
              <a:rPr lang="en-US" sz="3400" b="1" dirty="0"/>
              <a:t>Policy Type</a:t>
            </a:r>
            <a:r>
              <a:rPr lang="en-US" sz="3400" dirty="0"/>
              <a:t> </a:t>
            </a:r>
            <a:r>
              <a:rPr lang="en-US" sz="3400" i="1" dirty="0"/>
              <a:t>(Categorical: Comprehensive, Third-Party)</a:t>
            </a:r>
            <a:r>
              <a:rPr lang="en-US" sz="3400" dirty="0"/>
              <a:t> – Type of insurance policy held.</a:t>
            </a:r>
          </a:p>
          <a:p>
            <a:pPr>
              <a:buFont typeface="+mj-lt"/>
              <a:buAutoNum type="arabicPeriod"/>
            </a:pPr>
            <a:r>
              <a:rPr lang="en-US" sz="3400" b="1" dirty="0"/>
              <a:t>Driving Record</a:t>
            </a:r>
            <a:r>
              <a:rPr lang="en-US" sz="3400" dirty="0"/>
              <a:t> </a:t>
            </a:r>
            <a:r>
              <a:rPr lang="en-US" sz="3400" i="1" dirty="0"/>
              <a:t>(Categorical: Clean, Minor Offenses, Major Offenses)</a:t>
            </a:r>
            <a:r>
              <a:rPr lang="en-US" sz="3400" dirty="0"/>
              <a:t> – Claimant’s history of traffic </a:t>
            </a:r>
            <a:r>
              <a:rPr lang="en-US" dirty="0"/>
              <a:t>violations.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9CA66-DF09-2ED7-4B85-F22BA843F303}"/>
              </a:ext>
            </a:extLst>
          </p:cNvPr>
          <p:cNvSpPr>
            <a:spLocks noGrp="1"/>
          </p:cNvSpPr>
          <p:nvPr>
            <p:ph type="title"/>
          </p:nvPr>
        </p:nvSpPr>
        <p:spPr/>
        <p:txBody>
          <a:bodyPr/>
          <a:lstStyle/>
          <a:p>
            <a:r>
              <a:rPr lang="en-IN" dirty="0"/>
              <a:t>Exploratory Data Analysis</a:t>
            </a:r>
          </a:p>
        </p:txBody>
      </p:sp>
      <p:sp>
        <p:nvSpPr>
          <p:cNvPr id="3" name="Content Placeholder 2">
            <a:extLst>
              <a:ext uri="{FF2B5EF4-FFF2-40B4-BE49-F238E27FC236}">
                <a16:creationId xmlns:a16="http://schemas.microsoft.com/office/drawing/2014/main" id="{B886BC03-ED18-0395-E4F0-3E55D495E013}"/>
              </a:ext>
            </a:extLst>
          </p:cNvPr>
          <p:cNvSpPr>
            <a:spLocks noGrp="1"/>
          </p:cNvSpPr>
          <p:nvPr>
            <p:ph idx="1"/>
          </p:nvPr>
        </p:nvSpPr>
        <p:spPr/>
        <p:txBody>
          <a:bodyPr>
            <a:normAutofit/>
          </a:bodyPr>
          <a:lstStyle/>
          <a:p>
            <a:r>
              <a:rPr lang="en-IN" sz="1600" b="1" dirty="0"/>
              <a:t>Handling Missing Values</a:t>
            </a:r>
          </a:p>
          <a:p>
            <a:r>
              <a:rPr lang="en-IN" sz="1600" dirty="0"/>
              <a:t>🔹 </a:t>
            </a:r>
            <a:r>
              <a:rPr lang="en-IN" sz="1600" b="1" dirty="0"/>
              <a:t>Missing Values Count:</a:t>
            </a:r>
            <a:endParaRPr lang="en-IN" sz="1600" dirty="0"/>
          </a:p>
          <a:p>
            <a:pPr>
              <a:buFont typeface="Arial" panose="020B0604020202020204" pitchFamily="34" charset="0"/>
              <a:buChar char="•"/>
            </a:pPr>
            <a:r>
              <a:rPr lang="en-IN" sz="1600" b="1" dirty="0"/>
              <a:t>CLMSEX</a:t>
            </a:r>
            <a:r>
              <a:rPr lang="en-IN" sz="1600" dirty="0"/>
              <a:t> → 12 missing values</a:t>
            </a:r>
          </a:p>
          <a:p>
            <a:pPr>
              <a:buFont typeface="Arial" panose="020B0604020202020204" pitchFamily="34" charset="0"/>
              <a:buChar char="•"/>
            </a:pPr>
            <a:r>
              <a:rPr lang="en-IN" sz="1600" b="1" dirty="0"/>
              <a:t>CLMINSUR</a:t>
            </a:r>
            <a:r>
              <a:rPr lang="en-IN" sz="1600" dirty="0"/>
              <a:t> → 41 missing values</a:t>
            </a:r>
          </a:p>
          <a:p>
            <a:pPr>
              <a:buFont typeface="Arial" panose="020B0604020202020204" pitchFamily="34" charset="0"/>
              <a:buChar char="•"/>
            </a:pPr>
            <a:r>
              <a:rPr lang="en-IN" sz="1600" b="1" dirty="0"/>
              <a:t>SEATBELT</a:t>
            </a:r>
            <a:r>
              <a:rPr lang="en-IN" sz="1600" dirty="0"/>
              <a:t> → 48 missing values</a:t>
            </a:r>
          </a:p>
          <a:p>
            <a:pPr>
              <a:buFont typeface="Arial" panose="020B0604020202020204" pitchFamily="34" charset="0"/>
              <a:buChar char="•"/>
            </a:pPr>
            <a:r>
              <a:rPr lang="en-IN" sz="1600" b="1" dirty="0"/>
              <a:t>CLMAGE</a:t>
            </a:r>
            <a:r>
              <a:rPr lang="en-IN" sz="1600" dirty="0"/>
              <a:t> → 189 missing values</a:t>
            </a:r>
          </a:p>
          <a:p>
            <a:r>
              <a:rPr lang="en-IN" sz="1600" dirty="0"/>
              <a:t>🔹 </a:t>
            </a:r>
            <a:r>
              <a:rPr lang="en-IN" sz="1600" b="1" dirty="0"/>
              <a:t>Imputation Strategy:</a:t>
            </a:r>
            <a:endParaRPr lang="en-IN" sz="1600" dirty="0"/>
          </a:p>
          <a:p>
            <a:pPr>
              <a:buFont typeface="Arial" panose="020B0604020202020204" pitchFamily="34" charset="0"/>
              <a:buChar char="•"/>
            </a:pPr>
            <a:r>
              <a:rPr lang="en-IN" sz="1600" b="1" dirty="0"/>
              <a:t>CLMSEX, CLMINSUR, SEATBELT</a:t>
            </a:r>
            <a:r>
              <a:rPr lang="en-IN" sz="1600" dirty="0"/>
              <a:t> → Filled  </a:t>
            </a:r>
          </a:p>
          <a:p>
            <a:pPr>
              <a:buFont typeface="Arial" panose="020B0604020202020204" pitchFamily="34" charset="0"/>
              <a:buChar char="•"/>
            </a:pPr>
            <a:r>
              <a:rPr lang="en-IN" sz="1600" dirty="0"/>
              <a:t>with </a:t>
            </a:r>
            <a:r>
              <a:rPr lang="en-IN" sz="1600" b="1" dirty="0"/>
              <a:t>mode</a:t>
            </a:r>
            <a:r>
              <a:rPr lang="en-IN" sz="1600" dirty="0"/>
              <a:t>.</a:t>
            </a:r>
          </a:p>
          <a:p>
            <a:pPr>
              <a:buFont typeface="Arial" panose="020B0604020202020204" pitchFamily="34" charset="0"/>
              <a:buChar char="•"/>
            </a:pPr>
            <a:r>
              <a:rPr lang="en-IN" sz="1600" b="1" dirty="0"/>
              <a:t>CLMAGE</a:t>
            </a:r>
            <a:r>
              <a:rPr lang="en-IN" sz="1600" dirty="0"/>
              <a:t> → Filled with </a:t>
            </a:r>
            <a:r>
              <a:rPr lang="en-IN" sz="1600" b="1" dirty="0"/>
              <a:t>median</a:t>
            </a:r>
            <a:r>
              <a:rPr lang="en-IN" sz="1600" dirty="0"/>
              <a:t> to </a:t>
            </a:r>
          </a:p>
          <a:p>
            <a:pPr>
              <a:buFont typeface="Arial" panose="020B0604020202020204" pitchFamily="34" charset="0"/>
              <a:buChar char="•"/>
            </a:pPr>
            <a:r>
              <a:rPr lang="en-IN" sz="1600" dirty="0"/>
              <a:t>handle skewness.</a:t>
            </a:r>
          </a:p>
          <a:p>
            <a:pPr marL="0" indent="0">
              <a:buNone/>
            </a:pPr>
            <a:endParaRPr lang="en-IN" sz="1600" dirty="0"/>
          </a:p>
        </p:txBody>
      </p:sp>
      <p:pic>
        <p:nvPicPr>
          <p:cNvPr id="5" name="Picture 4">
            <a:extLst>
              <a:ext uri="{FF2B5EF4-FFF2-40B4-BE49-F238E27FC236}">
                <a16:creationId xmlns:a16="http://schemas.microsoft.com/office/drawing/2014/main" id="{5243986F-91AF-A1CF-5A6D-866BD5F8B2CF}"/>
              </a:ext>
            </a:extLst>
          </p:cNvPr>
          <p:cNvPicPr>
            <a:picLocks noChangeAspect="1"/>
          </p:cNvPicPr>
          <p:nvPr/>
        </p:nvPicPr>
        <p:blipFill>
          <a:blip r:embed="rId2"/>
          <a:stretch>
            <a:fillRect/>
          </a:stretch>
        </p:blipFill>
        <p:spPr>
          <a:xfrm>
            <a:off x="4174835" y="1417638"/>
            <a:ext cx="4969165" cy="4906962"/>
          </a:xfrm>
          <a:prstGeom prst="rect">
            <a:avLst/>
          </a:prstGeom>
        </p:spPr>
      </p:pic>
    </p:spTree>
    <p:extLst>
      <p:ext uri="{BB962C8B-B14F-4D97-AF65-F5344CB8AC3E}">
        <p14:creationId xmlns:p14="http://schemas.microsoft.com/office/powerpoint/2010/main" val="3185440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71D0E-4363-398D-2DF2-A7222A70C8BC}"/>
              </a:ext>
            </a:extLst>
          </p:cNvPr>
          <p:cNvSpPr>
            <a:spLocks noGrp="1"/>
          </p:cNvSpPr>
          <p:nvPr>
            <p:ph type="title"/>
          </p:nvPr>
        </p:nvSpPr>
        <p:spPr/>
        <p:txBody>
          <a:bodyPr/>
          <a:lstStyle/>
          <a:p>
            <a:endParaRPr lang="en-IN" dirty="0"/>
          </a:p>
        </p:txBody>
      </p:sp>
      <p:pic>
        <p:nvPicPr>
          <p:cNvPr id="6" name="Content Placeholder 5">
            <a:extLst>
              <a:ext uri="{FF2B5EF4-FFF2-40B4-BE49-F238E27FC236}">
                <a16:creationId xmlns:a16="http://schemas.microsoft.com/office/drawing/2014/main" id="{5AD0A690-5A4C-C944-A333-14A3CC738642}"/>
              </a:ext>
            </a:extLst>
          </p:cNvPr>
          <p:cNvPicPr>
            <a:picLocks noGrp="1" noChangeAspect="1"/>
          </p:cNvPicPr>
          <p:nvPr>
            <p:ph idx="1"/>
          </p:nvPr>
        </p:nvPicPr>
        <p:blipFill>
          <a:blip r:embed="rId2"/>
          <a:stretch>
            <a:fillRect/>
          </a:stretch>
        </p:blipFill>
        <p:spPr>
          <a:xfrm>
            <a:off x="0" y="0"/>
            <a:ext cx="9144000" cy="2252847"/>
          </a:xfrm>
        </p:spPr>
      </p:pic>
      <p:pic>
        <p:nvPicPr>
          <p:cNvPr id="8" name="Picture 7">
            <a:extLst>
              <a:ext uri="{FF2B5EF4-FFF2-40B4-BE49-F238E27FC236}">
                <a16:creationId xmlns:a16="http://schemas.microsoft.com/office/drawing/2014/main" id="{F4C6871A-91BE-4CBC-C5A6-4AE5CE21DB00}"/>
              </a:ext>
            </a:extLst>
          </p:cNvPr>
          <p:cNvPicPr>
            <a:picLocks noChangeAspect="1"/>
          </p:cNvPicPr>
          <p:nvPr/>
        </p:nvPicPr>
        <p:blipFill>
          <a:blip r:embed="rId3"/>
          <a:stretch>
            <a:fillRect/>
          </a:stretch>
        </p:blipFill>
        <p:spPr>
          <a:xfrm>
            <a:off x="0" y="2439692"/>
            <a:ext cx="5645440" cy="4330923"/>
          </a:xfrm>
          <a:prstGeom prst="rect">
            <a:avLst/>
          </a:prstGeom>
        </p:spPr>
      </p:pic>
    </p:spTree>
    <p:extLst>
      <p:ext uri="{BB962C8B-B14F-4D97-AF65-F5344CB8AC3E}">
        <p14:creationId xmlns:p14="http://schemas.microsoft.com/office/powerpoint/2010/main" val="240953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8DD32-A747-94AD-6A6D-C9AA16037A16}"/>
              </a:ext>
            </a:extLst>
          </p:cNvPr>
          <p:cNvSpPr>
            <a:spLocks noGrp="1"/>
          </p:cNvSpPr>
          <p:nvPr>
            <p:ph type="title"/>
          </p:nvPr>
        </p:nvSpPr>
        <p:spPr/>
        <p:txBody>
          <a:bodyPr/>
          <a:lstStyle/>
          <a:p>
            <a:r>
              <a:rPr lang="en-IN" dirty="0"/>
              <a:t>Data Visualization</a:t>
            </a:r>
          </a:p>
        </p:txBody>
      </p:sp>
      <p:sp>
        <p:nvSpPr>
          <p:cNvPr id="4" name="Rectangle 1">
            <a:extLst>
              <a:ext uri="{FF2B5EF4-FFF2-40B4-BE49-F238E27FC236}">
                <a16:creationId xmlns:a16="http://schemas.microsoft.com/office/drawing/2014/main" id="{0907DA92-F2E4-39A1-BDBC-DBBACED4BE5D}"/>
              </a:ext>
            </a:extLst>
          </p:cNvPr>
          <p:cNvSpPr>
            <a:spLocks noGrp="1" noChangeArrowheads="1"/>
          </p:cNvSpPr>
          <p:nvPr>
            <p:ph idx="1"/>
          </p:nvPr>
        </p:nvSpPr>
        <p:spPr bwMode="auto">
          <a:xfrm>
            <a:off x="457200" y="1417638"/>
            <a:ext cx="814730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Arial" panose="020B0604020202020204" pitchFamily="34" charset="0"/>
              </a:rPr>
              <a:t>Bar Plot Analysis					                                 pie chart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8E91AC25-77DF-2781-49CE-D6E4E3BA34E9}"/>
              </a:ext>
            </a:extLst>
          </p:cNvPr>
          <p:cNvPicPr>
            <a:picLocks noChangeAspect="1"/>
          </p:cNvPicPr>
          <p:nvPr/>
        </p:nvPicPr>
        <p:blipFill>
          <a:blip r:embed="rId2"/>
          <a:stretch>
            <a:fillRect/>
          </a:stretch>
        </p:blipFill>
        <p:spPr>
          <a:xfrm>
            <a:off x="224274" y="1649740"/>
            <a:ext cx="5358384" cy="3115112"/>
          </a:xfrm>
          <a:prstGeom prst="rect">
            <a:avLst/>
          </a:prstGeom>
        </p:spPr>
      </p:pic>
      <p:pic>
        <p:nvPicPr>
          <p:cNvPr id="13" name="Picture 12">
            <a:extLst>
              <a:ext uri="{FF2B5EF4-FFF2-40B4-BE49-F238E27FC236}">
                <a16:creationId xmlns:a16="http://schemas.microsoft.com/office/drawing/2014/main" id="{6F254BA9-EF18-EF5B-A7F6-C460D9004E97}"/>
              </a:ext>
            </a:extLst>
          </p:cNvPr>
          <p:cNvPicPr>
            <a:picLocks noChangeAspect="1"/>
          </p:cNvPicPr>
          <p:nvPr/>
        </p:nvPicPr>
        <p:blipFill>
          <a:blip r:embed="rId3"/>
          <a:stretch>
            <a:fillRect/>
          </a:stretch>
        </p:blipFill>
        <p:spPr>
          <a:xfrm>
            <a:off x="539496" y="4879757"/>
            <a:ext cx="4126053" cy="1978243"/>
          </a:xfrm>
          <a:prstGeom prst="rect">
            <a:avLst/>
          </a:prstGeom>
        </p:spPr>
      </p:pic>
      <p:pic>
        <p:nvPicPr>
          <p:cNvPr id="15" name="Picture 14">
            <a:extLst>
              <a:ext uri="{FF2B5EF4-FFF2-40B4-BE49-F238E27FC236}">
                <a16:creationId xmlns:a16="http://schemas.microsoft.com/office/drawing/2014/main" id="{629F124B-A7BF-D88A-24E7-F7AD1BC34C08}"/>
              </a:ext>
            </a:extLst>
          </p:cNvPr>
          <p:cNvPicPr>
            <a:picLocks noChangeAspect="1"/>
          </p:cNvPicPr>
          <p:nvPr/>
        </p:nvPicPr>
        <p:blipFill>
          <a:blip r:embed="rId4"/>
          <a:stretch>
            <a:fillRect/>
          </a:stretch>
        </p:blipFill>
        <p:spPr>
          <a:xfrm>
            <a:off x="5734954" y="4375909"/>
            <a:ext cx="3246117" cy="2598797"/>
          </a:xfrm>
          <a:prstGeom prst="rect">
            <a:avLst/>
          </a:prstGeom>
        </p:spPr>
      </p:pic>
      <p:pic>
        <p:nvPicPr>
          <p:cNvPr id="17" name="Picture 16">
            <a:extLst>
              <a:ext uri="{FF2B5EF4-FFF2-40B4-BE49-F238E27FC236}">
                <a16:creationId xmlns:a16="http://schemas.microsoft.com/office/drawing/2014/main" id="{230D1B73-6D0A-6CE8-AA24-7C22FA925233}"/>
              </a:ext>
            </a:extLst>
          </p:cNvPr>
          <p:cNvPicPr>
            <a:picLocks noChangeAspect="1"/>
          </p:cNvPicPr>
          <p:nvPr/>
        </p:nvPicPr>
        <p:blipFill>
          <a:blip r:embed="rId5"/>
          <a:stretch>
            <a:fillRect/>
          </a:stretch>
        </p:blipFill>
        <p:spPr>
          <a:xfrm>
            <a:off x="5734954" y="1656670"/>
            <a:ext cx="3409046" cy="2719239"/>
          </a:xfrm>
          <a:prstGeom prst="rect">
            <a:avLst/>
          </a:prstGeom>
        </p:spPr>
      </p:pic>
    </p:spTree>
    <p:extLst>
      <p:ext uri="{BB962C8B-B14F-4D97-AF65-F5344CB8AC3E}">
        <p14:creationId xmlns:p14="http://schemas.microsoft.com/office/powerpoint/2010/main" val="2507919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E19BE-FB6B-2669-E3AE-11842606C63F}"/>
              </a:ext>
            </a:extLst>
          </p:cNvPr>
          <p:cNvSpPr>
            <a:spLocks noGrp="1"/>
          </p:cNvSpPr>
          <p:nvPr>
            <p:ph type="title"/>
          </p:nvPr>
        </p:nvSpPr>
        <p:spPr/>
        <p:txBody>
          <a:bodyPr/>
          <a:lstStyle/>
          <a:p>
            <a:r>
              <a:rPr lang="en-IN" dirty="0"/>
              <a:t>Data Visualization</a:t>
            </a:r>
          </a:p>
        </p:txBody>
      </p:sp>
      <p:sp>
        <p:nvSpPr>
          <p:cNvPr id="14" name="Content Placeholder 13">
            <a:extLst>
              <a:ext uri="{FF2B5EF4-FFF2-40B4-BE49-F238E27FC236}">
                <a16:creationId xmlns:a16="http://schemas.microsoft.com/office/drawing/2014/main" id="{D35DF742-54B4-B8E9-CBBA-84B066F4F5E3}"/>
              </a:ext>
            </a:extLst>
          </p:cNvPr>
          <p:cNvSpPr>
            <a:spLocks noGrp="1"/>
          </p:cNvSpPr>
          <p:nvPr>
            <p:ph idx="1"/>
          </p:nvPr>
        </p:nvSpPr>
        <p:spPr>
          <a:xfrm>
            <a:off x="4932218" y="1600200"/>
            <a:ext cx="3754582" cy="4525963"/>
          </a:xfrm>
        </p:spPr>
        <p:txBody>
          <a:bodyPr/>
          <a:lstStyle/>
          <a:p>
            <a:pPr>
              <a:defRPr sz="2520"/>
            </a:pPr>
            <a:r>
              <a:rPr lang="en-US" sz="1800" dirty="0"/>
              <a:t>CASENUM has extreme outliers → Should be removed.</a:t>
            </a:r>
          </a:p>
          <a:p>
            <a:pPr>
              <a:defRPr sz="2520"/>
            </a:pPr>
            <a:r>
              <a:rPr lang="en-US" sz="1800" dirty="0"/>
              <a:t>- LOSS, Claim Amount Requested, and Settlement Amount are right-skewed.</a:t>
            </a:r>
          </a:p>
          <a:p>
            <a:pPr>
              <a:defRPr sz="2520"/>
            </a:pPr>
            <a:r>
              <a:rPr lang="en-US" sz="1800" dirty="0"/>
              <a:t>- High-value claims exist but are rare.</a:t>
            </a:r>
          </a:p>
          <a:p>
            <a:pPr>
              <a:defRPr sz="2520"/>
            </a:pPr>
            <a:r>
              <a:rPr lang="en-US" sz="1800" dirty="0"/>
              <a:t>- Settlement Amount is usually lower than Claim Amount Requested.</a:t>
            </a:r>
          </a:p>
          <a:p>
            <a:endParaRPr lang="en-IN" dirty="0"/>
          </a:p>
        </p:txBody>
      </p:sp>
      <p:pic>
        <p:nvPicPr>
          <p:cNvPr id="16" name="Picture 15">
            <a:extLst>
              <a:ext uri="{FF2B5EF4-FFF2-40B4-BE49-F238E27FC236}">
                <a16:creationId xmlns:a16="http://schemas.microsoft.com/office/drawing/2014/main" id="{AD10A180-12B9-E09C-FAA3-EC70C87A3516}"/>
              </a:ext>
            </a:extLst>
          </p:cNvPr>
          <p:cNvPicPr>
            <a:picLocks noChangeAspect="1"/>
          </p:cNvPicPr>
          <p:nvPr/>
        </p:nvPicPr>
        <p:blipFill>
          <a:blip r:embed="rId2"/>
          <a:stretch>
            <a:fillRect/>
          </a:stretch>
        </p:blipFill>
        <p:spPr>
          <a:xfrm>
            <a:off x="0" y="1345991"/>
            <a:ext cx="4996873" cy="4166017"/>
          </a:xfrm>
          <a:prstGeom prst="rect">
            <a:avLst/>
          </a:prstGeom>
        </p:spPr>
      </p:pic>
    </p:spTree>
    <p:extLst>
      <p:ext uri="{BB962C8B-B14F-4D97-AF65-F5344CB8AC3E}">
        <p14:creationId xmlns:p14="http://schemas.microsoft.com/office/powerpoint/2010/main" val="3184215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Feature Engineering &amp; Selection</a:t>
            </a:r>
          </a:p>
        </p:txBody>
      </p:sp>
      <p:sp>
        <p:nvSpPr>
          <p:cNvPr id="4" name="Rectangle 1">
            <a:extLst>
              <a:ext uri="{FF2B5EF4-FFF2-40B4-BE49-F238E27FC236}">
                <a16:creationId xmlns:a16="http://schemas.microsoft.com/office/drawing/2014/main" id="{7D5AD51A-1A25-B3DA-1B16-01C640940ED1}"/>
              </a:ext>
            </a:extLst>
          </p:cNvPr>
          <p:cNvSpPr>
            <a:spLocks noGrp="1" noChangeArrowheads="1"/>
          </p:cNvSpPr>
          <p:nvPr>
            <p:ph idx="1"/>
          </p:nvPr>
        </p:nvSpPr>
        <p:spPr bwMode="auto">
          <a:xfrm>
            <a:off x="5680364" y="-445681"/>
            <a:ext cx="2505233" cy="8617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Calculated correlation of all features with </a:t>
            </a:r>
            <a:r>
              <a:rPr kumimoji="0" lang="en-US" altLang="en-US" sz="1600" i="0" u="none" strike="noStrike" cap="none" normalizeH="0" baseline="0" dirty="0">
                <a:ln>
                  <a:noFill/>
                </a:ln>
                <a:solidFill>
                  <a:schemeClr val="tx1"/>
                </a:solidFill>
                <a:effectLst/>
                <a:latin typeface="Arial Unicode MS"/>
              </a:rPr>
              <a:t>ATTORNEY</a:t>
            </a:r>
            <a:r>
              <a:rPr kumimoji="0" lang="en-US" altLang="en-US" sz="160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High correlation</a:t>
            </a: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features indicate strong relationships with the target.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Low correlation</a:t>
            </a:r>
            <a:r>
              <a:rPr kumimoji="0" lang="en-US" altLang="en-US" sz="1800" b="0" i="0" u="none" strike="noStrike" cap="none" normalizeH="0" baseline="0" dirty="0">
                <a:ln>
                  <a:noFill/>
                </a:ln>
                <a:solidFill>
                  <a:schemeClr val="tx1"/>
                </a:solidFill>
                <a:effectLst/>
                <a:latin typeface="Arial" panose="020B0604020202020204" pitchFamily="34" charset="0"/>
              </a:rPr>
              <a:t> features might not contribute significantly to predictions.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6" name="Picture 5">
            <a:extLst>
              <a:ext uri="{FF2B5EF4-FFF2-40B4-BE49-F238E27FC236}">
                <a16:creationId xmlns:a16="http://schemas.microsoft.com/office/drawing/2014/main" id="{01E4CB6C-49AE-5839-9FB7-70202E1995A0}"/>
              </a:ext>
            </a:extLst>
          </p:cNvPr>
          <p:cNvPicPr>
            <a:picLocks noChangeAspect="1"/>
          </p:cNvPicPr>
          <p:nvPr/>
        </p:nvPicPr>
        <p:blipFill>
          <a:blip r:embed="rId2"/>
          <a:stretch>
            <a:fillRect/>
          </a:stretch>
        </p:blipFill>
        <p:spPr>
          <a:xfrm>
            <a:off x="184879" y="1520432"/>
            <a:ext cx="5264421" cy="40388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8594-1A59-D8A6-8837-31E430591D23}"/>
              </a:ext>
            </a:extLst>
          </p:cNvPr>
          <p:cNvSpPr>
            <a:spLocks noGrp="1"/>
          </p:cNvSpPr>
          <p:nvPr>
            <p:ph type="title"/>
          </p:nvPr>
        </p:nvSpPr>
        <p:spPr/>
        <p:txBody>
          <a:bodyPr/>
          <a:lstStyle/>
          <a:p>
            <a:r>
              <a:rPr lang="en-IN" dirty="0"/>
              <a:t>Feature Engineering &amp; Selection</a:t>
            </a:r>
          </a:p>
        </p:txBody>
      </p:sp>
      <p:sp>
        <p:nvSpPr>
          <p:cNvPr id="4" name="Rectangle 1">
            <a:extLst>
              <a:ext uri="{FF2B5EF4-FFF2-40B4-BE49-F238E27FC236}">
                <a16:creationId xmlns:a16="http://schemas.microsoft.com/office/drawing/2014/main" id="{69582DBE-EE4D-14BB-3428-7922A7BDA1C5}"/>
              </a:ext>
            </a:extLst>
          </p:cNvPr>
          <p:cNvSpPr>
            <a:spLocks noGrp="1" noChangeArrowheads="1"/>
          </p:cNvSpPr>
          <p:nvPr>
            <p:ph idx="1"/>
          </p:nvPr>
        </p:nvSpPr>
        <p:spPr bwMode="auto">
          <a:xfrm>
            <a:off x="5846618" y="1924190"/>
            <a:ext cx="3027181"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Chi-Square Test</a:t>
            </a:r>
            <a:r>
              <a:rPr kumimoji="0" lang="en-US" altLang="en-US" sz="1800" b="0" i="0" u="none" strike="noStrike" cap="none" normalizeH="0" baseline="0" dirty="0">
                <a:ln>
                  <a:noFill/>
                </a:ln>
                <a:solidFill>
                  <a:schemeClr val="tx1"/>
                </a:solidFill>
                <a:effectLst/>
                <a:latin typeface="Arial" panose="020B0604020202020204" pitchFamily="34" charset="0"/>
              </a:rPr>
              <a:t> evaluates feature importance based on statistical significance.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Features ranked by </a:t>
            </a:r>
            <a:r>
              <a:rPr kumimoji="0" lang="en-US" altLang="en-US" sz="1800" b="1" i="0" u="none" strike="noStrike" cap="none" normalizeH="0" baseline="0" dirty="0">
                <a:ln>
                  <a:noFill/>
                </a:ln>
                <a:solidFill>
                  <a:schemeClr val="tx1"/>
                </a:solidFill>
                <a:effectLst/>
                <a:latin typeface="Arial" panose="020B0604020202020204" pitchFamily="34" charset="0"/>
              </a:rPr>
              <a:t>p-value</a:t>
            </a:r>
            <a:r>
              <a:rPr kumimoji="0" lang="en-US" altLang="en-US" sz="1800" b="0" i="0" u="none" strike="noStrike" cap="none" normalizeH="0" baseline="0" dirty="0">
                <a:ln>
                  <a:noFill/>
                </a:ln>
                <a:solidFill>
                  <a:schemeClr val="tx1"/>
                </a:solidFill>
                <a:effectLst/>
                <a:latin typeface="Arial" panose="020B0604020202020204" pitchFamily="34" charset="0"/>
              </a:rPr>
              <a:t> to identify the most relevant predictors.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Top Selected Features: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Accident Severity</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Policy Type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Driving Record</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Claim Approval</a:t>
            </a:r>
            <a:r>
              <a:rPr lang="en-US" altLang="en-US" sz="1600" dirty="0">
                <a:latin typeface="Arial Unicode MS"/>
              </a:rPr>
              <a:t> </a:t>
            </a:r>
            <a:r>
              <a:rPr kumimoji="0" lang="en-US" altLang="en-US" sz="1600" b="0" i="0" u="none" strike="noStrike" cap="none" normalizeH="0" baseline="0" dirty="0">
                <a:ln>
                  <a:noFill/>
                </a:ln>
                <a:solidFill>
                  <a:schemeClr val="tx1"/>
                </a:solidFill>
                <a:effectLst/>
                <a:latin typeface="Arial Unicode MS"/>
              </a:rPr>
              <a:t>Status</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17DD416-FA03-92D9-86E8-040E226F7828}"/>
              </a:ext>
            </a:extLst>
          </p:cNvPr>
          <p:cNvPicPr>
            <a:picLocks noChangeAspect="1"/>
          </p:cNvPicPr>
          <p:nvPr/>
        </p:nvPicPr>
        <p:blipFill>
          <a:blip r:embed="rId2"/>
          <a:stretch>
            <a:fillRect/>
          </a:stretch>
        </p:blipFill>
        <p:spPr>
          <a:xfrm>
            <a:off x="270201" y="1632204"/>
            <a:ext cx="4902452" cy="2551869"/>
          </a:xfrm>
          <a:prstGeom prst="rect">
            <a:avLst/>
          </a:prstGeom>
        </p:spPr>
      </p:pic>
    </p:spTree>
    <p:extLst>
      <p:ext uri="{BB962C8B-B14F-4D97-AF65-F5344CB8AC3E}">
        <p14:creationId xmlns:p14="http://schemas.microsoft.com/office/powerpoint/2010/main" val="288242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78E42-FE50-8B41-A6E2-067F46752AAA}"/>
              </a:ext>
            </a:extLst>
          </p:cNvPr>
          <p:cNvSpPr>
            <a:spLocks noGrp="1"/>
          </p:cNvSpPr>
          <p:nvPr>
            <p:ph type="title"/>
          </p:nvPr>
        </p:nvSpPr>
        <p:spPr/>
        <p:txBody>
          <a:bodyPr/>
          <a:lstStyle/>
          <a:p>
            <a:r>
              <a:rPr lang="en-IN" dirty="0"/>
              <a:t>Feature Engineering &amp; Selection</a:t>
            </a:r>
          </a:p>
        </p:txBody>
      </p:sp>
      <p:sp>
        <p:nvSpPr>
          <p:cNvPr id="4" name="Rectangle 1">
            <a:extLst>
              <a:ext uri="{FF2B5EF4-FFF2-40B4-BE49-F238E27FC236}">
                <a16:creationId xmlns:a16="http://schemas.microsoft.com/office/drawing/2014/main" id="{2010DE1E-54BF-EA8D-6CB7-D87681E3E0BB}"/>
              </a:ext>
            </a:extLst>
          </p:cNvPr>
          <p:cNvSpPr>
            <a:spLocks noGrp="1" noChangeArrowheads="1"/>
          </p:cNvSpPr>
          <p:nvPr>
            <p:ph idx="1"/>
          </p:nvPr>
        </p:nvSpPr>
        <p:spPr bwMode="auto">
          <a:xfrm>
            <a:off x="5588000" y="2093467"/>
            <a:ext cx="263113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Label Encoding</a:t>
            </a:r>
            <a:r>
              <a:rPr kumimoji="0" lang="en-US" altLang="en-US" sz="1800" b="0" i="0" u="none" strike="noStrike" cap="none" normalizeH="0" baseline="0" dirty="0">
                <a:ln>
                  <a:noFill/>
                </a:ln>
                <a:solidFill>
                  <a:schemeClr val="tx1"/>
                </a:solidFill>
                <a:effectLst/>
                <a:latin typeface="Arial" panose="020B0604020202020204" pitchFamily="34" charset="0"/>
              </a:rPr>
              <a:t> for categorical features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Unicode MS"/>
              </a:rPr>
              <a:t>Accident Severity</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Policy Type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Driving Record</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CLMSEX</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Claim Approval</a:t>
            </a:r>
            <a:r>
              <a:rPr lang="en-US" altLang="en-US" sz="1600" dirty="0">
                <a:latin typeface="Arial Unicode MS"/>
              </a:rPr>
              <a:t> </a:t>
            </a:r>
            <a:r>
              <a:rPr kumimoji="0" lang="en-US" altLang="en-US" sz="1600" b="0" i="0" u="none" strike="noStrike" cap="none" normalizeH="0" baseline="0" dirty="0">
                <a:ln>
                  <a:noFill/>
                </a:ln>
                <a:solidFill>
                  <a:schemeClr val="tx1"/>
                </a:solidFill>
                <a:effectLst/>
                <a:latin typeface="Arial Unicode MS"/>
              </a:rPr>
              <a:t>Status</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Converts categorical values into numerical form for model compatibility.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44F2E4D2-45D0-E6CF-33AA-DB9F6F2D5750}"/>
              </a:ext>
            </a:extLst>
          </p:cNvPr>
          <p:cNvPicPr>
            <a:picLocks noChangeAspect="1"/>
          </p:cNvPicPr>
          <p:nvPr/>
        </p:nvPicPr>
        <p:blipFill>
          <a:blip r:embed="rId2"/>
          <a:stretch>
            <a:fillRect/>
          </a:stretch>
        </p:blipFill>
        <p:spPr>
          <a:xfrm>
            <a:off x="0" y="1762039"/>
            <a:ext cx="5652655" cy="3715125"/>
          </a:xfrm>
          <a:prstGeom prst="rect">
            <a:avLst/>
          </a:prstGeom>
        </p:spPr>
      </p:pic>
    </p:spTree>
    <p:extLst>
      <p:ext uri="{BB962C8B-B14F-4D97-AF65-F5344CB8AC3E}">
        <p14:creationId xmlns:p14="http://schemas.microsoft.com/office/powerpoint/2010/main" val="2918334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BE1C5-18F0-FF0D-B81E-5CFB25615A3F}"/>
              </a:ext>
            </a:extLst>
          </p:cNvPr>
          <p:cNvSpPr>
            <a:spLocks noGrp="1"/>
          </p:cNvSpPr>
          <p:nvPr>
            <p:ph type="title"/>
          </p:nvPr>
        </p:nvSpPr>
        <p:spPr/>
        <p:txBody>
          <a:bodyPr/>
          <a:lstStyle/>
          <a:p>
            <a:r>
              <a:rPr lang="en-IN" dirty="0"/>
              <a:t>Feature Engineering &amp; Selection</a:t>
            </a:r>
          </a:p>
        </p:txBody>
      </p:sp>
      <p:sp>
        <p:nvSpPr>
          <p:cNvPr id="4" name="Rectangle 1">
            <a:extLst>
              <a:ext uri="{FF2B5EF4-FFF2-40B4-BE49-F238E27FC236}">
                <a16:creationId xmlns:a16="http://schemas.microsoft.com/office/drawing/2014/main" id="{6DB7F92B-6353-B45A-FC52-0C91B7A09722}"/>
              </a:ext>
            </a:extLst>
          </p:cNvPr>
          <p:cNvSpPr>
            <a:spLocks noGrp="1" noChangeArrowheads="1"/>
          </p:cNvSpPr>
          <p:nvPr>
            <p:ph idx="1"/>
          </p:nvPr>
        </p:nvSpPr>
        <p:spPr bwMode="auto">
          <a:xfrm>
            <a:off x="5735782" y="2185800"/>
            <a:ext cx="3149600" cy="335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Dropped original categorical columns</a:t>
            </a:r>
            <a:r>
              <a:rPr kumimoji="0" lang="en-US" altLang="en-US" sz="1800" b="0" i="0" u="none" strike="noStrike" cap="none" normalizeH="0" baseline="0" dirty="0">
                <a:ln>
                  <a:noFill/>
                </a:ln>
                <a:solidFill>
                  <a:schemeClr val="tx1"/>
                </a:solidFill>
                <a:effectLst/>
                <a:latin typeface="Arial" panose="020B0604020202020204" pitchFamily="34" charset="0"/>
              </a:rPr>
              <a:t> after encoding.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Standardized numerical features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Unicode MS"/>
              </a:rPr>
              <a:t>CLMAGE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LOSS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Claim Amount</a:t>
            </a:r>
            <a:r>
              <a:rPr lang="en-US" altLang="en-US" sz="1600" dirty="0">
                <a:latin typeface="Arial Unicode MS"/>
              </a:rPr>
              <a:t> </a:t>
            </a:r>
            <a:r>
              <a:rPr kumimoji="0" lang="en-US" altLang="en-US" sz="1600" b="0" i="0" u="none" strike="noStrike" cap="none" normalizeH="0" baseline="0" dirty="0">
                <a:ln>
                  <a:noFill/>
                </a:ln>
                <a:solidFill>
                  <a:schemeClr val="tx1"/>
                </a:solidFill>
                <a:effectLst/>
                <a:latin typeface="Arial Unicode MS"/>
              </a:rPr>
              <a:t>Requested</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Settlement Amount</a:t>
            </a:r>
            <a:r>
              <a:rPr kumimoji="0" lang="en-US" altLang="en-US" sz="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Helps improve model performance and ensures balanced feature impact. </a:t>
            </a:r>
          </a:p>
        </p:txBody>
      </p:sp>
      <p:pic>
        <p:nvPicPr>
          <p:cNvPr id="6" name="Picture 5">
            <a:extLst>
              <a:ext uri="{FF2B5EF4-FFF2-40B4-BE49-F238E27FC236}">
                <a16:creationId xmlns:a16="http://schemas.microsoft.com/office/drawing/2014/main" id="{7318B211-B0CA-A7AB-1982-1837B3EF08AE}"/>
              </a:ext>
            </a:extLst>
          </p:cNvPr>
          <p:cNvPicPr>
            <a:picLocks noChangeAspect="1"/>
          </p:cNvPicPr>
          <p:nvPr/>
        </p:nvPicPr>
        <p:blipFill>
          <a:blip r:embed="rId2"/>
          <a:stretch>
            <a:fillRect/>
          </a:stretch>
        </p:blipFill>
        <p:spPr>
          <a:xfrm>
            <a:off x="0" y="2185800"/>
            <a:ext cx="5615709" cy="3134345"/>
          </a:xfrm>
          <a:prstGeom prst="rect">
            <a:avLst/>
          </a:prstGeom>
        </p:spPr>
      </p:pic>
    </p:spTree>
    <p:extLst>
      <p:ext uri="{BB962C8B-B14F-4D97-AF65-F5344CB8AC3E}">
        <p14:creationId xmlns:p14="http://schemas.microsoft.com/office/powerpoint/2010/main" val="3014694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Model Selection &amp; Training</a:t>
            </a:r>
          </a:p>
        </p:txBody>
      </p:sp>
      <p:sp>
        <p:nvSpPr>
          <p:cNvPr id="4" name="Rectangle 1">
            <a:extLst>
              <a:ext uri="{FF2B5EF4-FFF2-40B4-BE49-F238E27FC236}">
                <a16:creationId xmlns:a16="http://schemas.microsoft.com/office/drawing/2014/main" id="{E71A061D-4DDC-1E2B-9714-1A3FD98FD940}"/>
              </a:ext>
            </a:extLst>
          </p:cNvPr>
          <p:cNvSpPr>
            <a:spLocks noGrp="1" noChangeArrowheads="1"/>
          </p:cNvSpPr>
          <p:nvPr>
            <p:ph idx="1"/>
          </p:nvPr>
        </p:nvSpPr>
        <p:spPr bwMode="auto">
          <a:xfrm>
            <a:off x="5726545" y="2770574"/>
            <a:ext cx="3417455"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Train-Test Split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Features (</a:t>
            </a:r>
            <a:r>
              <a:rPr kumimoji="0" lang="en-US" altLang="en-US" sz="1600" b="0" i="0" u="none" strike="noStrike" cap="none" normalizeH="0" baseline="0" dirty="0">
                <a:ln>
                  <a:noFill/>
                </a:ln>
                <a:solidFill>
                  <a:schemeClr val="tx1"/>
                </a:solidFill>
                <a:effectLst/>
                <a:latin typeface="Arial Unicode MS"/>
              </a:rPr>
              <a:t>X</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CLMINSUR</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CLMSEX</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LOSS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CLMAGE</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Target (</a:t>
            </a:r>
            <a:r>
              <a:rPr kumimoji="0" lang="en-US" altLang="en-US" sz="1600" b="0" i="0" u="none" strike="noStrike" cap="none" normalizeH="0" baseline="0" dirty="0">
                <a:ln>
                  <a:noFill/>
                </a:ln>
                <a:solidFill>
                  <a:schemeClr val="tx1"/>
                </a:solidFill>
                <a:effectLst/>
                <a:latin typeface="Arial Unicode MS"/>
              </a:rPr>
              <a:t>y</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ATTORNEY</a:t>
            </a:r>
            <a:r>
              <a:rPr kumimoji="0" lang="en-US" altLang="en-US" sz="1600" b="0" i="0" u="none" strike="noStrike" cap="none" normalizeH="0" baseline="0" dirty="0">
                <a:ln>
                  <a:noFill/>
                </a:ln>
                <a:solidFill>
                  <a:schemeClr val="tx1"/>
                </a:solidFill>
                <a:effectLst/>
              </a:rPr>
              <a:t> (1 = Yes, 0 = No)</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Dataset split:</a:t>
            </a:r>
            <a:r>
              <a:rPr kumimoji="0" lang="en-US" altLang="en-US" sz="1800" b="0" i="0" u="none" strike="noStrike" cap="none" normalizeH="0" baseline="0" dirty="0">
                <a:ln>
                  <a:noFill/>
                </a:ln>
                <a:solidFill>
                  <a:schemeClr val="tx1"/>
                </a:solidFill>
                <a:effectLst/>
                <a:latin typeface="Arial" panose="020B0604020202020204" pitchFamily="34" charset="0"/>
              </a:rPr>
              <a:t> 80% training, 20% testing.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C2B34744-0A13-CCC8-8A90-29975C5BEDD9}"/>
              </a:ext>
            </a:extLst>
          </p:cNvPr>
          <p:cNvPicPr>
            <a:picLocks noChangeAspect="1"/>
          </p:cNvPicPr>
          <p:nvPr/>
        </p:nvPicPr>
        <p:blipFill>
          <a:blip r:embed="rId2"/>
          <a:stretch>
            <a:fillRect/>
          </a:stretch>
        </p:blipFill>
        <p:spPr>
          <a:xfrm>
            <a:off x="457200" y="2227358"/>
            <a:ext cx="5108744" cy="298195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91852-577E-7846-112F-335034E0CE63}"/>
              </a:ext>
            </a:extLst>
          </p:cNvPr>
          <p:cNvSpPr>
            <a:spLocks noGrp="1"/>
          </p:cNvSpPr>
          <p:nvPr>
            <p:ph type="title"/>
          </p:nvPr>
        </p:nvSpPr>
        <p:spPr/>
        <p:txBody>
          <a:bodyPr/>
          <a:lstStyle/>
          <a:p>
            <a:r>
              <a:rPr lang="en-IN" dirty="0"/>
              <a:t>Model Selection &amp; Training</a:t>
            </a:r>
          </a:p>
        </p:txBody>
      </p:sp>
      <p:sp>
        <p:nvSpPr>
          <p:cNvPr id="8" name="Rectangle 1">
            <a:extLst>
              <a:ext uri="{FF2B5EF4-FFF2-40B4-BE49-F238E27FC236}">
                <a16:creationId xmlns:a16="http://schemas.microsoft.com/office/drawing/2014/main" id="{5738ED7C-D3AB-E343-3BAA-E84601D44BD7}"/>
              </a:ext>
            </a:extLst>
          </p:cNvPr>
          <p:cNvSpPr>
            <a:spLocks noGrp="1" noChangeArrowheads="1"/>
          </p:cNvSpPr>
          <p:nvPr>
            <p:ph idx="1"/>
          </p:nvPr>
        </p:nvSpPr>
        <p:spPr bwMode="auto">
          <a:xfrm>
            <a:off x="4775200" y="1370194"/>
            <a:ext cx="4433455"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CatBoost</a:t>
            </a:r>
            <a:r>
              <a:rPr kumimoji="0" lang="en-US" altLang="en-US" sz="1800" b="0" i="0" u="none" strike="noStrike" cap="none" normalizeH="0" baseline="0" dirty="0">
                <a:ln>
                  <a:noFill/>
                </a:ln>
                <a:solidFill>
                  <a:schemeClr val="tx1"/>
                </a:solidFill>
                <a:effectLst/>
                <a:latin typeface="Arial" panose="020B0604020202020204" pitchFamily="34" charset="0"/>
              </a:rPr>
              <a:t> is a </a:t>
            </a:r>
            <a:r>
              <a:rPr kumimoji="0" lang="en-US" altLang="en-US" sz="1800" b="1" i="0" u="none" strike="noStrike" cap="none" normalizeH="0" baseline="0" dirty="0">
                <a:ln>
                  <a:noFill/>
                </a:ln>
                <a:solidFill>
                  <a:schemeClr val="tx1"/>
                </a:solidFill>
                <a:effectLst/>
                <a:latin typeface="Arial" panose="020B0604020202020204" pitchFamily="34" charset="0"/>
              </a:rPr>
              <a:t>gradient boosting algorithm</a:t>
            </a:r>
            <a:r>
              <a:rPr kumimoji="0" lang="en-US" altLang="en-US" sz="1800" b="0" i="0" u="none" strike="noStrike" cap="none" normalizeH="0" baseline="0" dirty="0">
                <a:ln>
                  <a:noFill/>
                </a:ln>
                <a:solidFill>
                  <a:schemeClr val="tx1"/>
                </a:solidFill>
                <a:effectLst/>
                <a:latin typeface="Arial" panose="020B0604020202020204" pitchFamily="34" charset="0"/>
              </a:rPr>
              <a:t> designed to handle categorical features efficiently.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improves model performance by </a:t>
            </a:r>
            <a:r>
              <a:rPr kumimoji="0" lang="en-US" altLang="en-US" sz="1800" b="1" i="0" u="none" strike="noStrike" cap="none" normalizeH="0" baseline="0" dirty="0">
                <a:ln>
                  <a:noFill/>
                </a:ln>
                <a:solidFill>
                  <a:schemeClr val="tx1"/>
                </a:solidFill>
                <a:effectLst/>
                <a:latin typeface="Arial" panose="020B0604020202020204" pitchFamily="34" charset="0"/>
              </a:rPr>
              <a:t>reducing overfitting</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handling class imbalance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2000" dirty="0"/>
              <a:t>Random Forest is an </a:t>
            </a:r>
            <a:r>
              <a:rPr lang="en-US" sz="2000" b="1" dirty="0"/>
              <a:t>ensemble learning method</a:t>
            </a:r>
            <a:r>
              <a:rPr lang="en-US" sz="2000" dirty="0"/>
              <a:t> that uses multiple decision trees.</a:t>
            </a:r>
            <a:endParaRPr 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sz="2000" dirty="0"/>
              <a:t>It reduces overfitting and improves accuracy by averaging multiple tree predictions.</a:t>
            </a: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12" name="Picture 11">
            <a:extLst>
              <a:ext uri="{FF2B5EF4-FFF2-40B4-BE49-F238E27FC236}">
                <a16:creationId xmlns:a16="http://schemas.microsoft.com/office/drawing/2014/main" id="{764D94E5-970F-0B11-7A27-69E902C4F9EC}"/>
              </a:ext>
            </a:extLst>
          </p:cNvPr>
          <p:cNvPicPr>
            <a:picLocks noChangeAspect="1"/>
          </p:cNvPicPr>
          <p:nvPr/>
        </p:nvPicPr>
        <p:blipFill>
          <a:blip r:embed="rId2"/>
          <a:stretch>
            <a:fillRect/>
          </a:stretch>
        </p:blipFill>
        <p:spPr>
          <a:xfrm>
            <a:off x="92364" y="1726859"/>
            <a:ext cx="4682836" cy="2000353"/>
          </a:xfrm>
          <a:prstGeom prst="rect">
            <a:avLst/>
          </a:prstGeom>
        </p:spPr>
      </p:pic>
      <p:pic>
        <p:nvPicPr>
          <p:cNvPr id="14" name="Picture 13">
            <a:extLst>
              <a:ext uri="{FF2B5EF4-FFF2-40B4-BE49-F238E27FC236}">
                <a16:creationId xmlns:a16="http://schemas.microsoft.com/office/drawing/2014/main" id="{A09550CC-9DEF-5081-EF63-0D06B64A1DD3}"/>
              </a:ext>
            </a:extLst>
          </p:cNvPr>
          <p:cNvPicPr>
            <a:picLocks noChangeAspect="1"/>
          </p:cNvPicPr>
          <p:nvPr/>
        </p:nvPicPr>
        <p:blipFill>
          <a:blip r:embed="rId3"/>
          <a:stretch>
            <a:fillRect/>
          </a:stretch>
        </p:blipFill>
        <p:spPr>
          <a:xfrm>
            <a:off x="92363" y="4064950"/>
            <a:ext cx="4599709" cy="894977"/>
          </a:xfrm>
          <a:prstGeom prst="rect">
            <a:avLst/>
          </a:prstGeom>
        </p:spPr>
      </p:pic>
    </p:spTree>
    <p:extLst>
      <p:ext uri="{BB962C8B-B14F-4D97-AF65-F5344CB8AC3E}">
        <p14:creationId xmlns:p14="http://schemas.microsoft.com/office/powerpoint/2010/main" val="4204801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&amp; Evaluation</a:t>
            </a:r>
          </a:p>
        </p:txBody>
      </p:sp>
      <p:sp>
        <p:nvSpPr>
          <p:cNvPr id="3" name="Content Placeholder 2"/>
          <p:cNvSpPr>
            <a:spLocks noGrp="1"/>
          </p:cNvSpPr>
          <p:nvPr>
            <p:ph idx="1"/>
          </p:nvPr>
        </p:nvSpPr>
        <p:spPr>
          <a:xfrm>
            <a:off x="457200" y="1341582"/>
            <a:ext cx="8229600" cy="3646055"/>
          </a:xfrm>
        </p:spPr>
        <p:txBody>
          <a:bodyPr>
            <a:noAutofit/>
          </a:bodyPr>
          <a:lstStyle/>
          <a:p>
            <a:pPr>
              <a:defRPr sz="2880" b="1"/>
            </a:pPr>
            <a:r>
              <a:rPr lang="en-US" sz="2000" dirty="0"/>
              <a:t>Random Forest Classifier</a:t>
            </a:r>
          </a:p>
          <a:p>
            <a:pPr>
              <a:defRPr sz="2520"/>
            </a:pPr>
            <a:r>
              <a:rPr lang="en-US" sz="2000" dirty="0"/>
              <a:t>- Accuracy: 59.7%</a:t>
            </a:r>
          </a:p>
          <a:p>
            <a:pPr>
              <a:defRPr sz="2520"/>
            </a:pPr>
            <a:r>
              <a:rPr lang="en-US" sz="2000" dirty="0"/>
              <a:t>- Precision: 57% (Class 0), 62% (Class 1)</a:t>
            </a:r>
          </a:p>
          <a:p>
            <a:pPr>
              <a:defRPr sz="2520"/>
            </a:pPr>
            <a:r>
              <a:rPr lang="en-US" sz="2000" dirty="0"/>
              <a:t>- Recall: 61% (Class 0), 59% (Class 1)</a:t>
            </a:r>
          </a:p>
          <a:p>
            <a:pPr>
              <a:defRPr sz="2520"/>
            </a:pPr>
            <a:r>
              <a:rPr lang="en-US" sz="2000" dirty="0"/>
              <a:t>- F1-score: 59% (Class 0), 60% (Class 1)</a:t>
            </a:r>
          </a:p>
          <a:p>
            <a:pPr marL="0" indent="0">
              <a:buNone/>
              <a:defRPr sz="2520"/>
            </a:pPr>
            <a:endParaRPr lang="en-US" sz="2000" dirty="0"/>
          </a:p>
          <a:p>
            <a:pPr>
              <a:defRPr sz="2880" b="1"/>
            </a:pPr>
            <a:r>
              <a:rPr lang="en-US" sz="2000" dirty="0" err="1"/>
              <a:t>CatBoost</a:t>
            </a:r>
            <a:r>
              <a:rPr lang="en-US" sz="2000" dirty="0"/>
              <a:t> Classifier</a:t>
            </a:r>
          </a:p>
          <a:p>
            <a:pPr>
              <a:defRPr sz="2520"/>
            </a:pPr>
            <a:r>
              <a:rPr lang="en-US" sz="2000" dirty="0"/>
              <a:t>- Accuracy: 60.1%</a:t>
            </a:r>
          </a:p>
          <a:p>
            <a:pPr>
              <a:defRPr sz="2520"/>
            </a:pPr>
            <a:r>
              <a:rPr lang="en-US" sz="2000" dirty="0"/>
              <a:t>- Precision: 58% (Class 0), 62% (Class 1)</a:t>
            </a:r>
          </a:p>
          <a:p>
            <a:pPr>
              <a:defRPr sz="2520"/>
            </a:pPr>
            <a:r>
              <a:rPr lang="en-US" sz="2000" dirty="0"/>
              <a:t>- Recall: 61% (Class 0), 59% (Class 1)</a:t>
            </a:r>
          </a:p>
          <a:p>
            <a:pPr>
              <a:defRPr sz="2520"/>
            </a:pPr>
            <a:r>
              <a:rPr lang="en-US" sz="2000" dirty="0"/>
              <a:t>- F1-score: 59% (Class 0), 61% (Class 1)</a:t>
            </a:r>
          </a:p>
          <a:p>
            <a:pPr>
              <a:defRPr sz="2520"/>
            </a:pPr>
            <a:endParaRPr lang="en-US" sz="2000" dirty="0"/>
          </a:p>
          <a:p>
            <a:pPr>
              <a:defRPr sz="2880" b="1"/>
            </a:pPr>
            <a:r>
              <a:rPr lang="en-US" sz="2000" dirty="0"/>
              <a:t>Additional Analysis</a:t>
            </a:r>
          </a:p>
          <a:p>
            <a:pPr>
              <a:defRPr sz="2520"/>
            </a:pPr>
            <a:r>
              <a:rPr lang="en-US" sz="2000" dirty="0"/>
              <a:t>- Confusion Matrix evaluated for classification errors.</a:t>
            </a:r>
          </a:p>
          <a:p>
            <a:pPr>
              <a:defRPr sz="2520"/>
            </a:pPr>
            <a:r>
              <a:rPr lang="en-US" sz="2000" dirty="0"/>
              <a:t>- Feature Importance analysis conducted to determine key predictors.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Deployment Strategy</a:t>
            </a:r>
          </a:p>
        </p:txBody>
      </p:sp>
      <p:sp>
        <p:nvSpPr>
          <p:cNvPr id="5" name="Rectangle 2">
            <a:extLst>
              <a:ext uri="{FF2B5EF4-FFF2-40B4-BE49-F238E27FC236}">
                <a16:creationId xmlns:a16="http://schemas.microsoft.com/office/drawing/2014/main" id="{C68E55AB-0138-0F7D-B039-8F4A9D4CAE37}"/>
              </a:ext>
            </a:extLst>
          </p:cNvPr>
          <p:cNvSpPr>
            <a:spLocks noGrp="1" noChangeArrowheads="1"/>
          </p:cNvSpPr>
          <p:nvPr>
            <p:ph idx="1"/>
          </p:nvPr>
        </p:nvSpPr>
        <p:spPr bwMode="auto">
          <a:xfrm>
            <a:off x="457200" y="1258827"/>
            <a:ext cx="868680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We created an interactive web app using </a:t>
            </a:r>
            <a:r>
              <a:rPr kumimoji="0" lang="en-US" altLang="en-US" sz="1800" i="0" u="none" strike="noStrike" cap="none" normalizeH="0" baseline="0" dirty="0" err="1">
                <a:ln>
                  <a:noFill/>
                </a:ln>
                <a:solidFill>
                  <a:schemeClr val="tx1"/>
                </a:solidFill>
                <a:effectLst/>
                <a:latin typeface="Arial" panose="020B0604020202020204" pitchFamily="34" charset="0"/>
              </a:rPr>
              <a:t>Streamlit</a:t>
            </a:r>
            <a:r>
              <a:rPr kumimoji="0" lang="en-US" altLang="en-US" sz="1800" i="0" u="none" strike="noStrike" cap="none" normalizeH="0" baseline="0" dirty="0">
                <a:ln>
                  <a:noFill/>
                </a:ln>
                <a:solidFill>
                  <a:schemeClr val="tx1"/>
                </a:solidFill>
                <a:effectLst/>
                <a:latin typeface="Arial" panose="020B0604020202020204" pitchFamily="34" charset="0"/>
              </a:rPr>
              <a:t> to allow users to input claim details and get predictions.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Key components of the </a:t>
            </a:r>
            <a:r>
              <a:rPr kumimoji="0" lang="en-US" altLang="en-US" sz="1800" i="0" u="none" strike="noStrike" cap="none" normalizeH="0" baseline="0" dirty="0" err="1">
                <a:ln>
                  <a:noFill/>
                </a:ln>
                <a:solidFill>
                  <a:schemeClr val="tx1"/>
                </a:solidFill>
                <a:effectLst/>
                <a:latin typeface="Arial" panose="020B0604020202020204" pitchFamily="34" charset="0"/>
              </a:rPr>
              <a:t>Streamlit</a:t>
            </a:r>
            <a:r>
              <a:rPr kumimoji="0" lang="en-US" altLang="en-US" sz="1800" i="0" u="none" strike="noStrike" cap="none" normalizeH="0" baseline="0" dirty="0">
                <a:ln>
                  <a:noFill/>
                </a:ln>
                <a:solidFill>
                  <a:schemeClr val="tx1"/>
                </a:solidFill>
                <a:effectLst/>
                <a:latin typeface="Arial" panose="020B0604020202020204" pitchFamily="34" charset="0"/>
              </a:rPr>
              <a:t> app (</a:t>
            </a:r>
            <a:r>
              <a:rPr kumimoji="0" lang="en-US" altLang="en-US" sz="1600" i="0" u="none" strike="noStrike" cap="none" normalizeH="0" baseline="0" dirty="0">
                <a:ln>
                  <a:noFill/>
                </a:ln>
                <a:solidFill>
                  <a:schemeClr val="tx1"/>
                </a:solidFill>
                <a:effectLst/>
                <a:latin typeface="Arial Unicode MS"/>
              </a:rPr>
              <a:t>app.py</a:t>
            </a:r>
            <a:r>
              <a:rPr kumimoji="0" lang="en-US" altLang="en-US" sz="160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Inputs: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Number inputs for Insurance Claim Amount, Loss, 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Dropdown for Gender (Male/Female)</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Preprocessing: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Converts categorical variables (e.g., Gender) into numerical format.</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Prediction Display: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Model outputs either "Attorney Involved" or "No Attorney Involved".</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 Importance Visualization: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Users can see which factors influence predictions the most.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C1654-A097-CFF7-59C5-AB783D4C143C}"/>
              </a:ext>
            </a:extLst>
          </p:cNvPr>
          <p:cNvSpPr>
            <a:spLocks noGrp="1"/>
          </p:cNvSpPr>
          <p:nvPr>
            <p:ph type="title"/>
          </p:nvPr>
        </p:nvSpPr>
        <p:spPr/>
        <p:txBody>
          <a:bodyPr/>
          <a:lstStyle/>
          <a:p>
            <a:r>
              <a:rPr lang="en-IN" dirty="0"/>
              <a:t>Deployment Strategy</a:t>
            </a:r>
          </a:p>
        </p:txBody>
      </p:sp>
      <p:sp>
        <p:nvSpPr>
          <p:cNvPr id="7" name="Rectangle 4">
            <a:extLst>
              <a:ext uri="{FF2B5EF4-FFF2-40B4-BE49-F238E27FC236}">
                <a16:creationId xmlns:a16="http://schemas.microsoft.com/office/drawing/2014/main" id="{218CBFF7-83B7-D1A4-BEFB-C02DDB1183AC}"/>
              </a:ext>
            </a:extLst>
          </p:cNvPr>
          <p:cNvSpPr>
            <a:spLocks noGrp="1" noChangeArrowheads="1"/>
          </p:cNvSpPr>
          <p:nvPr>
            <p:ph idx="1"/>
          </p:nvPr>
        </p:nvSpPr>
        <p:spPr bwMode="auto">
          <a:xfrm>
            <a:off x="457200" y="1431750"/>
            <a:ext cx="8066632"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latin typeface="Arial" panose="020B0604020202020204" pitchFamily="34" charset="0"/>
              </a:rPr>
              <a:t>Vizualisation.py</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Objective: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Explore patterns &amp; relationships in the </a:t>
            </a:r>
            <a:r>
              <a:rPr kumimoji="0" lang="en-US" altLang="en-US" sz="1800" b="1" i="0" u="none" strike="noStrike" cap="none" normalizeH="0" baseline="0" dirty="0">
                <a:ln>
                  <a:noFill/>
                </a:ln>
                <a:solidFill>
                  <a:schemeClr val="tx1"/>
                </a:solidFill>
                <a:effectLst/>
                <a:latin typeface="Arial" panose="020B0604020202020204" pitchFamily="34" charset="0"/>
              </a:rPr>
              <a:t>insurance claims dataset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Tools Used: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Unicode MS"/>
              </a:rPr>
              <a:t>Streamlit</a:t>
            </a:r>
            <a:r>
              <a:rPr kumimoji="0" lang="en-US" altLang="en-US" sz="1600" b="0" i="0" u="none" strike="noStrike" cap="none" normalizeH="0" baseline="0" dirty="0">
                <a:ln>
                  <a:noFill/>
                </a:ln>
                <a:solidFill>
                  <a:schemeClr val="tx1"/>
                </a:solidFill>
                <a:effectLst/>
                <a:latin typeface="Arial Unicode MS"/>
              </a:rPr>
              <a:t> </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Seaborn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Matplotlib</a:t>
            </a:r>
            <a:r>
              <a:rPr kumimoji="0" lang="en-US" altLang="en-US" sz="1600" b="0" i="0" u="none" strike="noStrike" cap="none" normalizeH="0" baseline="0" dirty="0">
                <a:ln>
                  <a:noFill/>
                </a:ln>
                <a:solidFill>
                  <a:schemeClr val="tx1"/>
                </a:solidFill>
                <a:effectLst/>
              </a:rPr>
              <a:t> for </a:t>
            </a:r>
            <a:r>
              <a:rPr kumimoji="0" lang="en-US" altLang="en-US" sz="1800" b="0" i="0" u="none" strike="noStrike" cap="none" normalizeH="0" baseline="0" dirty="0">
                <a:ln>
                  <a:noFill/>
                </a:ln>
                <a:solidFill>
                  <a:schemeClr val="tx1"/>
                </a:solidFill>
                <a:effectLst/>
              </a:rPr>
              <a:t>interactive visualizations.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latin typeface="Arial" panose="020B0604020202020204" pitchFamily="34" charset="0"/>
            </a:endParaRPr>
          </a:p>
          <a:p>
            <a:r>
              <a:rPr lang="en-US" sz="1600" b="1" dirty="0"/>
              <a:t>Key Features &amp; Visualizations</a:t>
            </a:r>
          </a:p>
          <a:p>
            <a:r>
              <a:rPr lang="en-US" sz="1600" b="1" dirty="0"/>
              <a:t>Single Attribute Analysis</a:t>
            </a:r>
          </a:p>
          <a:p>
            <a:pPr>
              <a:buFont typeface="Arial" panose="020B0604020202020204" pitchFamily="34" charset="0"/>
              <a:buChar char="•"/>
            </a:pPr>
            <a:r>
              <a:rPr lang="en-US" sz="1600" b="1" dirty="0"/>
              <a:t>Histogram &amp; Boxplot</a:t>
            </a:r>
            <a:r>
              <a:rPr lang="en-US" sz="1600" dirty="0"/>
              <a:t> → Show distribution &amp; outliers for </a:t>
            </a:r>
            <a:r>
              <a:rPr lang="en-US" sz="1600" b="1" dirty="0"/>
              <a:t>numeric attributes</a:t>
            </a:r>
            <a:r>
              <a:rPr lang="en-US" sz="1600" dirty="0"/>
              <a:t>.</a:t>
            </a:r>
          </a:p>
          <a:p>
            <a:pPr>
              <a:buFont typeface="Arial" panose="020B0604020202020204" pitchFamily="34" charset="0"/>
              <a:buChar char="•"/>
            </a:pPr>
            <a:r>
              <a:rPr lang="en-US" sz="1600" b="1" dirty="0" err="1"/>
              <a:t>Countplot</a:t>
            </a:r>
            <a:r>
              <a:rPr lang="en-US" sz="1600" dirty="0"/>
              <a:t> → Displays the frequency of </a:t>
            </a:r>
            <a:r>
              <a:rPr lang="en-US" sz="1600" b="1" dirty="0"/>
              <a:t>categorical attributes</a:t>
            </a:r>
          </a:p>
          <a:p>
            <a:pPr>
              <a:buFont typeface="Arial" panose="020B0604020202020204" pitchFamily="34" charset="0"/>
              <a:buChar char="•"/>
            </a:pPr>
            <a:endParaRPr lang="en-US" sz="1600" b="1" dirty="0"/>
          </a:p>
          <a:p>
            <a:r>
              <a:rPr lang="en-US" sz="1600" b="1" dirty="0"/>
              <a:t>Relationship Analysis</a:t>
            </a:r>
          </a:p>
          <a:p>
            <a:pPr>
              <a:buFont typeface="Arial" panose="020B0604020202020204" pitchFamily="34" charset="0"/>
              <a:buChar char="•"/>
            </a:pPr>
            <a:r>
              <a:rPr lang="en-US" sz="1600" b="1" dirty="0"/>
              <a:t>Scatterplot</a:t>
            </a:r>
            <a:r>
              <a:rPr lang="en-US" sz="1600" dirty="0"/>
              <a:t> → Examines correlation between </a:t>
            </a:r>
            <a:r>
              <a:rPr lang="en-US" sz="1600" b="1" dirty="0"/>
              <a:t>two selected attributes</a:t>
            </a:r>
            <a:r>
              <a:rPr lang="en-US" sz="1600" dirty="0"/>
              <a:t>.</a:t>
            </a:r>
          </a:p>
          <a:p>
            <a:pPr>
              <a:buFont typeface="Arial" panose="020B0604020202020204" pitchFamily="34" charset="0"/>
              <a:buChar char="•"/>
            </a:pPr>
            <a:r>
              <a:rPr lang="en-US" sz="1600" b="1" dirty="0"/>
              <a:t>Heatmap</a:t>
            </a:r>
            <a:r>
              <a:rPr lang="en-US" sz="1600" dirty="0"/>
              <a:t> → Highlights </a:t>
            </a:r>
            <a:r>
              <a:rPr lang="en-US" sz="1600" b="1" dirty="0"/>
              <a:t>correlations between numerical features</a:t>
            </a:r>
            <a:r>
              <a:rPr lang="en-US" sz="1600" dirty="0"/>
              <a:t>.</a:t>
            </a:r>
          </a:p>
          <a:p>
            <a:pPr>
              <a:buFont typeface="Arial" panose="020B0604020202020204" pitchFamily="34" charset="0"/>
              <a:buChar char="•"/>
            </a:pPr>
            <a:r>
              <a:rPr lang="en-US" sz="1600" b="1" dirty="0" err="1"/>
              <a:t>Pairplot</a:t>
            </a:r>
            <a:r>
              <a:rPr lang="en-US" sz="1600" dirty="0"/>
              <a:t> → Shows relationships among </a:t>
            </a:r>
            <a:r>
              <a:rPr lang="en-US" sz="1600" b="1" dirty="0"/>
              <a:t>multiple numerical attributes</a:t>
            </a:r>
            <a:r>
              <a:rPr lang="en-US" sz="1600" dirty="0"/>
              <a:t>.</a:t>
            </a:r>
          </a:p>
          <a:p>
            <a:pPr marL="0" indent="0">
              <a:buNone/>
            </a:pPr>
            <a:endParaRPr lang="en-US" sz="1600" dirty="0"/>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89512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26433-B16A-AF4D-EC71-9085748CC76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9148DC4-1932-BD33-F10B-A35B556E68F1}"/>
              </a:ext>
            </a:extLst>
          </p:cNvPr>
          <p:cNvPicPr>
            <a:picLocks noGrp="1" noChangeAspect="1"/>
          </p:cNvPicPr>
          <p:nvPr>
            <p:ph idx="1"/>
          </p:nvPr>
        </p:nvPicPr>
        <p:blipFill>
          <a:blip r:embed="rId2"/>
          <a:stretch>
            <a:fillRect/>
          </a:stretch>
        </p:blipFill>
        <p:spPr>
          <a:xfrm>
            <a:off x="1304377" y="1600200"/>
            <a:ext cx="6535246" cy="4525963"/>
          </a:xfrm>
        </p:spPr>
      </p:pic>
    </p:spTree>
    <p:extLst>
      <p:ext uri="{BB962C8B-B14F-4D97-AF65-F5344CB8AC3E}">
        <p14:creationId xmlns:p14="http://schemas.microsoft.com/office/powerpoint/2010/main" val="3088841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CB5F1-3FB8-53D0-6EE3-2954FBAD6F6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9238DA6-F533-5E02-A627-FBC27BB4EE3F}"/>
              </a:ext>
            </a:extLst>
          </p:cNvPr>
          <p:cNvPicPr>
            <a:picLocks noGrp="1" noChangeAspect="1"/>
          </p:cNvPicPr>
          <p:nvPr>
            <p:ph idx="1"/>
          </p:nvPr>
        </p:nvPicPr>
        <p:blipFill>
          <a:blip r:embed="rId2"/>
          <a:stretch>
            <a:fillRect/>
          </a:stretch>
        </p:blipFill>
        <p:spPr>
          <a:xfrm>
            <a:off x="309720" y="1600200"/>
            <a:ext cx="4142208" cy="3091873"/>
          </a:xfrm>
        </p:spPr>
      </p:pic>
      <p:pic>
        <p:nvPicPr>
          <p:cNvPr id="7" name="Picture 6">
            <a:extLst>
              <a:ext uri="{FF2B5EF4-FFF2-40B4-BE49-F238E27FC236}">
                <a16:creationId xmlns:a16="http://schemas.microsoft.com/office/drawing/2014/main" id="{91D5960D-CA86-8226-F76C-2AB97E8A7732}"/>
              </a:ext>
            </a:extLst>
          </p:cNvPr>
          <p:cNvPicPr>
            <a:picLocks noChangeAspect="1"/>
          </p:cNvPicPr>
          <p:nvPr/>
        </p:nvPicPr>
        <p:blipFill>
          <a:blip r:embed="rId3"/>
          <a:stretch>
            <a:fillRect/>
          </a:stretch>
        </p:blipFill>
        <p:spPr>
          <a:xfrm>
            <a:off x="4572000" y="1674156"/>
            <a:ext cx="4451926" cy="2943959"/>
          </a:xfrm>
          <a:prstGeom prst="rect">
            <a:avLst/>
          </a:prstGeom>
        </p:spPr>
      </p:pic>
      <p:pic>
        <p:nvPicPr>
          <p:cNvPr id="9" name="Picture 8">
            <a:extLst>
              <a:ext uri="{FF2B5EF4-FFF2-40B4-BE49-F238E27FC236}">
                <a16:creationId xmlns:a16="http://schemas.microsoft.com/office/drawing/2014/main" id="{69A58807-816A-D1FA-0985-71CCBBE392F7}"/>
              </a:ext>
            </a:extLst>
          </p:cNvPr>
          <p:cNvPicPr>
            <a:picLocks noChangeAspect="1"/>
          </p:cNvPicPr>
          <p:nvPr/>
        </p:nvPicPr>
        <p:blipFill>
          <a:blip r:embed="rId4"/>
          <a:stretch>
            <a:fillRect/>
          </a:stretch>
        </p:blipFill>
        <p:spPr>
          <a:xfrm>
            <a:off x="457200" y="4692073"/>
            <a:ext cx="3555385" cy="2180484"/>
          </a:xfrm>
          <a:prstGeom prst="rect">
            <a:avLst/>
          </a:prstGeom>
        </p:spPr>
      </p:pic>
      <p:pic>
        <p:nvPicPr>
          <p:cNvPr id="11" name="Picture 10">
            <a:extLst>
              <a:ext uri="{FF2B5EF4-FFF2-40B4-BE49-F238E27FC236}">
                <a16:creationId xmlns:a16="http://schemas.microsoft.com/office/drawing/2014/main" id="{EAB0C506-316F-1346-1A0C-86A5CF1E6247}"/>
              </a:ext>
            </a:extLst>
          </p:cNvPr>
          <p:cNvPicPr>
            <a:picLocks noChangeAspect="1"/>
          </p:cNvPicPr>
          <p:nvPr/>
        </p:nvPicPr>
        <p:blipFill>
          <a:blip r:embed="rId5"/>
          <a:stretch>
            <a:fillRect/>
          </a:stretch>
        </p:blipFill>
        <p:spPr>
          <a:xfrm>
            <a:off x="4564350" y="4623428"/>
            <a:ext cx="4459576" cy="2317773"/>
          </a:xfrm>
          <a:prstGeom prst="rect">
            <a:avLst/>
          </a:prstGeom>
        </p:spPr>
      </p:pic>
    </p:spTree>
    <p:extLst>
      <p:ext uri="{BB962C8B-B14F-4D97-AF65-F5344CB8AC3E}">
        <p14:creationId xmlns:p14="http://schemas.microsoft.com/office/powerpoint/2010/main" val="31831965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175B7-D84C-84FC-6679-9E0F463829D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4595764-B4CA-A9AD-7894-33BCDB54C904}"/>
              </a:ext>
            </a:extLst>
          </p:cNvPr>
          <p:cNvPicPr>
            <a:picLocks noGrp="1" noChangeAspect="1"/>
          </p:cNvPicPr>
          <p:nvPr>
            <p:ph idx="1"/>
          </p:nvPr>
        </p:nvPicPr>
        <p:blipFill>
          <a:blip r:embed="rId2"/>
          <a:stretch>
            <a:fillRect/>
          </a:stretch>
        </p:blipFill>
        <p:spPr>
          <a:xfrm>
            <a:off x="457200" y="1956902"/>
            <a:ext cx="8229600" cy="3812558"/>
          </a:xfrm>
        </p:spPr>
      </p:pic>
    </p:spTree>
    <p:extLst>
      <p:ext uri="{BB962C8B-B14F-4D97-AF65-F5344CB8AC3E}">
        <p14:creationId xmlns:p14="http://schemas.microsoft.com/office/powerpoint/2010/main" val="3152226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CDC60-9B1E-165C-4815-57EFC053FBF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5B6EFEA-2B87-5A05-B1F7-38B89EB71929}"/>
              </a:ext>
            </a:extLst>
          </p:cNvPr>
          <p:cNvPicPr>
            <a:picLocks noGrp="1" noChangeAspect="1"/>
          </p:cNvPicPr>
          <p:nvPr>
            <p:ph idx="1"/>
          </p:nvPr>
        </p:nvPicPr>
        <p:blipFill>
          <a:blip r:embed="rId2"/>
          <a:stretch>
            <a:fillRect/>
          </a:stretch>
        </p:blipFill>
        <p:spPr>
          <a:xfrm>
            <a:off x="457200" y="1836294"/>
            <a:ext cx="8229600" cy="4053775"/>
          </a:xfrm>
        </p:spPr>
      </p:pic>
    </p:spTree>
    <p:extLst>
      <p:ext uri="{BB962C8B-B14F-4D97-AF65-F5344CB8AC3E}">
        <p14:creationId xmlns:p14="http://schemas.microsoft.com/office/powerpoint/2010/main" val="3640048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BDCCD-D13C-A27B-AA9D-18677F4F88B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D112586-339D-6DEF-24DF-46E99C95F5A2}"/>
              </a:ext>
            </a:extLst>
          </p:cNvPr>
          <p:cNvPicPr>
            <a:picLocks noGrp="1" noChangeAspect="1"/>
          </p:cNvPicPr>
          <p:nvPr>
            <p:ph idx="1"/>
          </p:nvPr>
        </p:nvPicPr>
        <p:blipFill>
          <a:blip r:embed="rId2"/>
          <a:stretch>
            <a:fillRect/>
          </a:stretch>
        </p:blipFill>
        <p:spPr>
          <a:xfrm>
            <a:off x="457200" y="1842482"/>
            <a:ext cx="8229600" cy="4041398"/>
          </a:xfrm>
        </p:spPr>
      </p:pic>
    </p:spTree>
    <p:extLst>
      <p:ext uri="{BB962C8B-B14F-4D97-AF65-F5344CB8AC3E}">
        <p14:creationId xmlns:p14="http://schemas.microsoft.com/office/powerpoint/2010/main" val="267077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F2DA5-8736-C0E2-2880-2A935AE5CB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1D89CDE-58C0-E34B-3F2C-556A8C8F5909}"/>
              </a:ext>
            </a:extLst>
          </p:cNvPr>
          <p:cNvSpPr>
            <a:spLocks noGrp="1"/>
          </p:cNvSpPr>
          <p:nvPr>
            <p:ph idx="1"/>
          </p:nvPr>
        </p:nvSpPr>
        <p:spPr>
          <a:xfrm>
            <a:off x="-2459736" y="1923473"/>
            <a:ext cx="10817352" cy="4525963"/>
          </a:xfrm>
        </p:spPr>
        <p:txBody>
          <a:bodyPr>
            <a:normAutofit lnSpcReduction="10000"/>
          </a:bodyPr>
          <a:lstStyle/>
          <a:p>
            <a:pPr marL="2743200" lvl="6" indent="0" algn="ctr">
              <a:buNone/>
            </a:pPr>
            <a:r>
              <a:rPr lang="en-US" sz="4000" dirty="0"/>
              <a:t>Thank You</a:t>
            </a:r>
          </a:p>
          <a:p>
            <a:pPr marL="2743200" lvl="6" indent="0" algn="ctr">
              <a:buNone/>
            </a:pPr>
            <a:r>
              <a:rPr lang="en-US" sz="2800" dirty="0"/>
              <a:t>By</a:t>
            </a:r>
          </a:p>
          <a:p>
            <a:pPr marL="2743200" lvl="6" indent="0" algn="ctr">
              <a:buNone/>
            </a:pPr>
            <a:r>
              <a:rPr lang="en-US" sz="2800" dirty="0"/>
              <a:t>Dhevesh Arun</a:t>
            </a:r>
          </a:p>
          <a:p>
            <a:pPr marL="2743200" lvl="6" indent="0" algn="ctr">
              <a:buNone/>
            </a:pPr>
            <a:r>
              <a:rPr lang="en-US" sz="2800" dirty="0"/>
              <a:t> Swathi Mamilla</a:t>
            </a:r>
          </a:p>
          <a:p>
            <a:pPr marL="2743200" lvl="6" indent="0" algn="ctr">
              <a:buNone/>
            </a:pPr>
            <a:r>
              <a:rPr lang="en-US" sz="2800" dirty="0"/>
              <a:t> </a:t>
            </a:r>
            <a:r>
              <a:rPr lang="en-US" sz="2800" dirty="0" err="1"/>
              <a:t>E.Abdur</a:t>
            </a:r>
            <a:r>
              <a:rPr lang="en-US" sz="2800" dirty="0"/>
              <a:t> Rahman Anas</a:t>
            </a:r>
          </a:p>
          <a:p>
            <a:pPr marL="2743200" lvl="6" indent="0" algn="ctr">
              <a:buNone/>
            </a:pPr>
            <a:r>
              <a:rPr lang="en-US" sz="2800" dirty="0"/>
              <a:t>MOHAMMED SHYJIL</a:t>
            </a:r>
          </a:p>
          <a:p>
            <a:pPr marL="2743200" lvl="6" indent="0" algn="ctr">
              <a:buNone/>
            </a:pPr>
            <a:r>
              <a:rPr lang="en-US" sz="2800" dirty="0"/>
              <a:t>Ms. Teena Suresh </a:t>
            </a:r>
            <a:r>
              <a:rPr lang="en-US" sz="2800" dirty="0" err="1"/>
              <a:t>Bokde</a:t>
            </a:r>
            <a:endParaRPr lang="en-US" sz="2800" dirty="0"/>
          </a:p>
          <a:p>
            <a:pPr marL="2743200" lvl="6" indent="0" algn="ctr">
              <a:buNone/>
            </a:pPr>
            <a:r>
              <a:rPr lang="en-US" sz="2800" dirty="0"/>
              <a:t>Sadu Gopi Krishna</a:t>
            </a:r>
          </a:p>
          <a:p>
            <a:pPr marL="2743200" lvl="6" indent="0" algn="ctr">
              <a:buNone/>
            </a:pPr>
            <a:r>
              <a:rPr lang="en-US" sz="2800" dirty="0"/>
              <a:t>Mrunal Girdhar Patil</a:t>
            </a:r>
          </a:p>
        </p:txBody>
      </p:sp>
    </p:spTree>
    <p:extLst>
      <p:ext uri="{BB962C8B-B14F-4D97-AF65-F5344CB8AC3E}">
        <p14:creationId xmlns:p14="http://schemas.microsoft.com/office/powerpoint/2010/main" val="4170277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C9EA1-C888-A26E-A9C3-9D04CDF1566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629912-0911-5DAF-77AE-10CE869BC57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61227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344</TotalTime>
  <Words>1069</Words>
  <Application>Microsoft Office PowerPoint</Application>
  <PresentationFormat>On-screen Show (4:3)</PresentationFormat>
  <Paragraphs>170</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Arial Unicode MS</vt:lpstr>
      <vt:lpstr>Calibri</vt:lpstr>
      <vt:lpstr>Office Theme</vt:lpstr>
      <vt:lpstr>Predictive Modeling for Attorney Involvement in Claims</vt:lpstr>
      <vt:lpstr>Problem Statement </vt:lpstr>
      <vt:lpstr>Dataset Overview</vt:lpstr>
      <vt:lpstr>Exploratory Data Analysis</vt:lpstr>
      <vt:lpstr>PowerPoint Presentation</vt:lpstr>
      <vt:lpstr>Data Visualization</vt:lpstr>
      <vt:lpstr>Data Visualization</vt:lpstr>
      <vt:lpstr>Feature Engineering &amp; Selection</vt:lpstr>
      <vt:lpstr>Feature Engineering &amp; Selection</vt:lpstr>
      <vt:lpstr>Feature Engineering &amp; Selection</vt:lpstr>
      <vt:lpstr>Feature Engineering &amp; Selection</vt:lpstr>
      <vt:lpstr>Model Selection &amp; Training</vt:lpstr>
      <vt:lpstr>Model Selection &amp; Training</vt:lpstr>
      <vt:lpstr>Results &amp; Evaluation</vt:lpstr>
      <vt:lpstr>Deployment Strategy</vt:lpstr>
      <vt:lpstr>Deployment Strategy</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Dhevesh A</cp:lastModifiedBy>
  <cp:revision>5</cp:revision>
  <dcterms:created xsi:type="dcterms:W3CDTF">2013-01-27T09:14:16Z</dcterms:created>
  <dcterms:modified xsi:type="dcterms:W3CDTF">2025-02-08T04:26:04Z</dcterms:modified>
  <cp:category/>
</cp:coreProperties>
</file>